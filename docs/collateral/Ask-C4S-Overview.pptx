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9FB0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 SERVICE CLOUD  ·  IN-SCREEN AI COMPANION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6002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C4S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841248" y="3246120"/>
            <a:ext cx="2148840" cy="402336"/>
          </a:xfrm>
          <a:prstGeom prst="roundRect">
            <a:avLst>
              <a:gd name="adj" fmla="val 45455"/>
            </a:avLst>
          </a:prstGeom>
          <a:solidFill>
            <a:srgbClr val="1E2A4A"/>
          </a:solidFill>
          <a:ln w="12700">
            <a:solidFill>
              <a:srgbClr val="3A4B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324612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E9EE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COMPANION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913632"/>
            <a:ext cx="3840480" cy="1005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41605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C6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AI copilot that lives </a:t>
            </a:r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SAP C4C</a:t>
            </a:r>
            <a:pPr algn="l"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C6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combining </a:t>
            </a:r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pPr algn="l"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C6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dual </a:t>
            </a:r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pPr algn="l"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C6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 hardened gated-write layer so agents can </a:t>
            </a:r>
            <a:pPr algn="l" indent="0" marL="0">
              <a:lnSpc>
                <a:spcPct val="112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pPr algn="l"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C6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tickets — not just chat about them.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41248" y="5532120"/>
            <a:ext cx="2026310" cy="457200"/>
          </a:xfrm>
          <a:prstGeom prst="roundRect">
            <a:avLst>
              <a:gd name="adj" fmla="val 20000"/>
            </a:avLst>
          </a:prstGeom>
          <a:solidFill>
            <a:srgbClr val="141F3A"/>
          </a:solidFill>
          <a:ln w="12700">
            <a:solidFill>
              <a:srgbClr val="2C3A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5532120"/>
            <a:ext cx="2026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v0.27.82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68726" y="5532120"/>
            <a:ext cx="3191256" cy="457200"/>
          </a:xfrm>
          <a:prstGeom prst="roundRect">
            <a:avLst>
              <a:gd name="adj" fmla="val 20000"/>
            </a:avLst>
          </a:prstGeom>
          <a:solidFill>
            <a:srgbClr val="141F3A"/>
          </a:solidFill>
          <a:ln w="12700">
            <a:solidFill>
              <a:srgbClr val="2C3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68726" y="553212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Thermo Fisher · my340573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61150" y="5532120"/>
            <a:ext cx="1399032" cy="457200"/>
          </a:xfrm>
          <a:prstGeom prst="roundRect">
            <a:avLst>
              <a:gd name="adj" fmla="val 20000"/>
            </a:avLst>
          </a:prstGeom>
          <a:solidFill>
            <a:srgbClr val="141F3A"/>
          </a:solidFill>
          <a:ln w="12700">
            <a:solidFill>
              <a:srgbClr val="2C3A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1150" y="553212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61350" y="5532120"/>
            <a:ext cx="1488643" cy="457200"/>
          </a:xfrm>
          <a:prstGeom prst="roundRect">
            <a:avLst>
              <a:gd name="adj" fmla="val 20000"/>
            </a:avLst>
          </a:prstGeom>
          <a:solidFill>
            <a:srgbClr val="141F3A"/>
          </a:solidFill>
          <a:ln w="12700">
            <a:solidFill>
              <a:srgbClr val="2C3A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61350" y="5532120"/>
            <a:ext cx="14886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tools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ONE-CLICK ACTIONS · GROUPED BY THE VISIT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0" cy="82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2670048" cy="429768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2103120"/>
            <a:ext cx="566928" cy="566928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24942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87168" y="21396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C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96112" y="279806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96112" y="33101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/interactions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96112" y="35844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calls &amp; notes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896112" y="415137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/map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96112" y="442569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ticket view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96112" y="49926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/pulse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96112" y="52669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sentiment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529584" y="1828800"/>
            <a:ext cx="2670048" cy="429768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85616" y="2103120"/>
            <a:ext cx="566928" cy="566928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24942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76672" y="21396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C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785616" y="279806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785616" y="33101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/knowledge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785616" y="35844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history + KB fixes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3785616" y="415137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/triage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785616" y="442569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ticket summary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3785616" y="49926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/history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785616" y="52669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service on serial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419088" y="1828800"/>
            <a:ext cx="2670048" cy="429768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675120" y="2103120"/>
            <a:ext cx="566928" cy="566928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2249424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266176" y="21396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C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675120" y="279806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675120" y="33101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/order-parts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675120" y="35844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parts (ZRP3)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675120" y="415137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/prep-pm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6675120" y="442569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Pre-visit briefing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6675120" y="49926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/parts-check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6675120" y="52669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Van-stock check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9308592" y="1828800"/>
            <a:ext cx="2670048" cy="429768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9564624" y="2103120"/>
            <a:ext cx="566928" cy="566928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28" y="2249424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1155680" y="21396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C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9564624" y="279806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9564624" y="33101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/book-time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9564624" y="35844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labor &amp; travel</a:t>
            </a:r>
            <a:endParaRPr lang="en-US" sz="1150" dirty="0"/>
          </a:p>
        </p:txBody>
      </p:sp>
      <p:sp>
        <p:nvSpPr>
          <p:cNvPr id="45" name="Text 38"/>
          <p:cNvSpPr/>
          <p:nvPr/>
        </p:nvSpPr>
        <p:spPr>
          <a:xfrm>
            <a:off x="9564624" y="415137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/close-out</a:t>
            </a:r>
            <a:endParaRPr lang="en-US" sz="1300" dirty="0"/>
          </a:p>
        </p:txBody>
      </p:sp>
      <p:sp>
        <p:nvSpPr>
          <p:cNvPr id="46" name="Text 39"/>
          <p:cNvSpPr/>
          <p:nvPr/>
        </p:nvSpPr>
        <p:spPr>
          <a:xfrm>
            <a:off x="9564624" y="442569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response report</a:t>
            </a:r>
            <a:endParaRPr lang="en-US" sz="1150" dirty="0"/>
          </a:p>
        </p:txBody>
      </p:sp>
      <p:sp>
        <p:nvSpPr>
          <p:cNvPr id="47" name="Text 40"/>
          <p:cNvSpPr/>
          <p:nvPr/>
        </p:nvSpPr>
        <p:spPr>
          <a:xfrm>
            <a:off x="9564624" y="49926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/nearby</a:t>
            </a:r>
            <a:endParaRPr lang="en-US" sz="1300" dirty="0"/>
          </a:p>
        </p:txBody>
      </p:sp>
      <p:sp>
        <p:nvSpPr>
          <p:cNvPr id="48" name="Text 41"/>
          <p:cNvSpPr/>
          <p:nvPr/>
        </p:nvSpPr>
        <p:spPr>
          <a:xfrm>
            <a:off x="9564624" y="52669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PMs for routing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BACKEND · TWO CONSUMERS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0" cy="82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9740" y="1874520"/>
            <a:ext cx="324612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0" y="2130552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270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934060" y="2715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79780" y="320040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MV3 side panel + popup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ticket from URL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SAP across iframes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472788" y="1874520"/>
            <a:ext cx="324612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108" y="2130552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95748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 · localhost:3031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747108" y="2715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shim &amp; MCP server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792828" y="320040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custom tools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writes + self-heal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embeddings + KB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285836" y="1874520"/>
            <a:ext cx="324612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0156" y="2130552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08796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OF RECORD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8560156" y="2715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C4C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8605876" y="320040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v1 reads &amp; writes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parts, notes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truth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0724" y="2967228"/>
            <a:ext cx="329184" cy="329184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3772" y="2967228"/>
            <a:ext cx="329184" cy="32918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454000" y="470916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320" y="4965192"/>
            <a:ext cx="384048" cy="38404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31240" y="4946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25" name="Text 16"/>
          <p:cNvSpPr/>
          <p:nvPr/>
        </p:nvSpPr>
        <p:spPr>
          <a:xfrm>
            <a:off x="1231240" y="5184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728320" y="55778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Summaries, drafts, close-out reports, KB fix-step extraction — over SSE streaming.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4312768" y="470916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7088" y="4965192"/>
            <a:ext cx="384048" cy="38404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090008" y="4946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</a:t>
            </a:r>
            <a:endParaRPr lang="en-US" sz="950" dirty="0"/>
          </a:p>
        </p:txBody>
      </p:sp>
      <p:sp>
        <p:nvSpPr>
          <p:cNvPr id="30" name="Text 20"/>
          <p:cNvSpPr/>
          <p:nvPr/>
        </p:nvSpPr>
        <p:spPr>
          <a:xfrm>
            <a:off x="5090008" y="5184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RAG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4587088" y="55778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 for similar tickets; KB body-fetch for fix steps.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8171536" y="470916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5856" y="4965192"/>
            <a:ext cx="384048" cy="38404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8948776" y="4946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</a:t>
            </a:r>
            <a:endParaRPr lang="en-US" sz="950" dirty="0"/>
          </a:p>
        </p:txBody>
      </p:sp>
      <p:sp>
        <p:nvSpPr>
          <p:cNvPr id="35" name="Text 24"/>
          <p:cNvSpPr/>
          <p:nvPr/>
        </p:nvSpPr>
        <p:spPr>
          <a:xfrm>
            <a:off x="8948776" y="5184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 via mTLS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8445856" y="55778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Client-certificate SOAP / CPI call to SAP Business Suite for part prices.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-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26" y="251460"/>
            <a:ext cx="9880243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-t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224" y="251460"/>
            <a:ext cx="10485246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GREENFIELD · CHATGPT-APP-ONLY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built from scratch as a ChatGPT app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0" cy="82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810512"/>
            <a:ext cx="320040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77824" y="2029968"/>
            <a:ext cx="475488" cy="475488"/>
          </a:xfrm>
          <a:prstGeom prst="ellipse">
            <a:avLst/>
          </a:prstGeom>
          <a:solidFill>
            <a:srgbClr val="EEE9F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57984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44752" y="202996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1440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· orchestrator · model (OpenAI)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14400" y="2798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states the ticket ID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26280" y="1810512"/>
            <a:ext cx="3154680" cy="1316736"/>
          </a:xfrm>
          <a:prstGeom prst="roundRect">
            <a:avLst>
              <a:gd name="adj" fmla="val 6250"/>
            </a:avLst>
          </a:prstGeom>
          <a:solidFill>
            <a:srgbClr val="F6F3FE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45736" y="2029968"/>
            <a:ext cx="475488" cy="47548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15798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12664" y="202996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MCP server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782312" y="2560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· ~15 focused tools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782312" y="27980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connector · gated writes · auth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366760" y="1810512"/>
            <a:ext cx="315468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586216" y="2029968"/>
            <a:ext cx="475488" cy="475488"/>
          </a:xfrm>
          <a:prstGeom prst="ellipse">
            <a:avLst/>
          </a:prstGeom>
          <a:solidFill>
            <a:srgbClr val="E0F4E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4232" y="2157984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53144" y="202996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C4C + KB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622792" y="2560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v1 · MindTouch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622792" y="27980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backend calls</a:t>
            </a:r>
            <a:endParaRPr lang="en-US" sz="11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233172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611880" y="17922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· SSE + OAuth</a:t>
            </a:r>
            <a:endParaRPr lang="en-US" sz="8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0688" y="233172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52360" y="1792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OData · HTTPS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4526280" y="3182112"/>
            <a:ext cx="3154680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28" name="Text 20"/>
          <p:cNvSpPr/>
          <p:nvPr/>
        </p:nvSpPr>
        <p:spPr>
          <a:xfrm>
            <a:off x="4526280" y="318211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the only thing you build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658368" y="3456432"/>
            <a:ext cx="5349240" cy="2084832"/>
          </a:xfrm>
          <a:prstGeom prst="roundRect">
            <a:avLst>
              <a:gd name="adj" fmla="val 4386"/>
            </a:avLst>
          </a:prstGeom>
          <a:solidFill>
            <a:srgbClr val="F1FAF5"/>
          </a:solidFill>
          <a:ln w="12700">
            <a:solidFill>
              <a:srgbClr val="BFE3D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3694176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08176" y="3675888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(greenfield)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1024128" y="4169664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— ~15 focused tools</a:t>
            </a:r>
            <a:endParaRPr lang="en-US" sz="12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C4C OData connector</a:t>
            </a:r>
            <a:endParaRPr lang="en-US" sz="12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Gated-write safety (dryRun → ack)</a:t>
            </a:r>
            <a:endParaRPr lang="en-US" sz="12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· SAP identity</a:t>
            </a:r>
            <a:endParaRPr lang="en-US" sz="1200" dirty="0"/>
          </a:p>
          <a:p>
            <a:pPr marL="139700" indent="-139700">
              <a:buSzPct val="100000"/>
              <a:buChar char="•"/>
            </a:pPr>
            <a:r>
              <a:rPr lang="en-US" sz="1200" dirty="0">
                <a:solidFill>
                  <a:srgbClr val="24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Apps SDK UI widgets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6181344" y="3456432"/>
            <a:ext cx="5349240" cy="2084832"/>
          </a:xfrm>
          <a:prstGeom prst="roundRect">
            <a:avLst>
              <a:gd name="adj" fmla="val 4386"/>
            </a:avLst>
          </a:prstGeom>
          <a:solidFill>
            <a:srgbClr val="FBF5EA"/>
          </a:solidFill>
          <a:ln w="12700">
            <a:solidFill>
              <a:srgbClr val="EAD6AE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3694176"/>
            <a:ext cx="347472" cy="34747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31152" y="3675888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skip (vs. extension-first)</a:t>
            </a:r>
            <a:endParaRPr lang="en-US" sz="1500" dirty="0"/>
          </a:p>
        </p:txBody>
      </p:sp>
      <p:sp>
        <p:nvSpPr>
          <p:cNvPr id="36" name="Text 26"/>
          <p:cNvSpPr/>
          <p:nvPr/>
        </p:nvSpPr>
        <p:spPr>
          <a:xfrm>
            <a:off x="6547104" y="4169664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(MV3, ~18k-line popup)</a:t>
            </a:r>
            <a:endParaRPr lang="en-US" sz="12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scraping · auto-ticket context</a:t>
            </a:r>
            <a:endParaRPr lang="en-US" sz="12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React UI</a:t>
            </a:r>
            <a:endParaRPr lang="en-US" sz="12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BYO-LLM gateway (OpenAI is the model)</a:t>
            </a:r>
            <a:endParaRPr lang="en-US" sz="1200" dirty="0"/>
          </a:p>
          <a:p>
            <a:pPr marL="139700" indent="-139700">
              <a:buSzPct val="100000"/>
              <a:buChar char="•"/>
            </a:pPr>
            <a:r>
              <a:rPr lang="en-US" sz="1200" dirty="0">
                <a:solidFill>
                  <a:srgbClr val="6E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Browser-local cache tier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658368" y="5669280"/>
            <a:ext cx="10954512" cy="658368"/>
          </a:xfrm>
          <a:prstGeom prst="roundRect">
            <a:avLst>
              <a:gd name="adj" fmla="val 12500"/>
            </a:avLst>
          </a:prstGeom>
          <a:solidFill>
            <a:srgbClr val="0F1A33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688" y="5852160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371600" y="5669280"/>
            <a:ext cx="10040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— </a:t>
            </a:r>
            <a:pPr indent="0" marL="0"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less to build, but OpenAI is the model + data path, and there's no ambient SAP-screen context (the user states the ticket).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IT'S BUILT ON — AND WHY IT'S MORE THAN A CHATBOT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stack, in ten pillars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0" cy="82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828800"/>
            <a:ext cx="214884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77824" y="2066544"/>
            <a:ext cx="603504" cy="60350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221992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7824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77824" y="3072384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hand-authored tools exposed over stdio.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935224" y="1828800"/>
            <a:ext cx="214884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154680" y="2066544"/>
            <a:ext cx="603504" cy="60350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2221992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54680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shim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154680" y="3072384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Node bridge on :3031; serves the UI.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212080" y="1828800"/>
            <a:ext cx="214884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431536" y="2066544"/>
            <a:ext cx="603504" cy="60350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84" y="2221992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31536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MV3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31536" y="3072384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panel + DOM scraping across iframes.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488936" y="1828800"/>
            <a:ext cx="214884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08392" y="2066544"/>
            <a:ext cx="603504" cy="60350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221992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08392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C4C OData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708392" y="3072384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reads &amp; writes — the real work.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9765792" y="1828800"/>
            <a:ext cx="214884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985248" y="2066544"/>
            <a:ext cx="603504" cy="60350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0696" y="2221992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985248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· Claude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9985248" y="3072384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Summaries, drafts, extraction — SSE stream.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658368" y="4096512"/>
            <a:ext cx="214884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77824" y="4334256"/>
            <a:ext cx="603504" cy="60350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" y="4489704"/>
            <a:ext cx="292608" cy="29260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77824" y="5029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RAG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877824" y="5340096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(embeddings) + document (KB) retrieval.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2935224" y="4096512"/>
            <a:ext cx="214884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3154680" y="4334256"/>
            <a:ext cx="603504" cy="60350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0128" y="4489704"/>
            <a:ext cx="292608" cy="29260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3154680" y="5029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cache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3154680" y="5340096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Ticket, code-list &amp; embedding vector store.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5212080" y="4096512"/>
            <a:ext cx="214884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5431536" y="4334256"/>
            <a:ext cx="603504" cy="60350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6984" y="4489704"/>
            <a:ext cx="292608" cy="29260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431536" y="5029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writes</a:t>
            </a:r>
            <a:endParaRPr lang="en-US" sz="1400" dirty="0"/>
          </a:p>
        </p:txBody>
      </p:sp>
      <p:sp>
        <p:nvSpPr>
          <p:cNvPr id="44" name="Text 33"/>
          <p:cNvSpPr/>
          <p:nvPr/>
        </p:nvSpPr>
        <p:spPr>
          <a:xfrm>
            <a:off x="5431536" y="5340096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Three-gate pipeline + self-healing retries.</a:t>
            </a:r>
            <a:endParaRPr lang="en-US" sz="1050" dirty="0"/>
          </a:p>
        </p:txBody>
      </p:sp>
      <p:sp>
        <p:nvSpPr>
          <p:cNvPr id="45" name="Shape 34"/>
          <p:cNvSpPr/>
          <p:nvPr/>
        </p:nvSpPr>
        <p:spPr>
          <a:xfrm>
            <a:off x="7488936" y="4096512"/>
            <a:ext cx="214884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7708392" y="4334256"/>
            <a:ext cx="603504" cy="60350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4489704"/>
            <a:ext cx="292608" cy="292608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708392" y="5029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Multi-auth</a:t>
            </a:r>
            <a:endParaRPr lang="en-US" sz="1400" dirty="0"/>
          </a:p>
        </p:txBody>
      </p:sp>
      <p:sp>
        <p:nvSpPr>
          <p:cNvPr id="49" name="Text 37"/>
          <p:cNvSpPr/>
          <p:nvPr/>
        </p:nvSpPr>
        <p:spPr>
          <a:xfrm>
            <a:off x="7708392" y="5340096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Bearer, Google OAuth, Azure AD, mTLS.</a:t>
            </a:r>
            <a:endParaRPr lang="en-US" sz="1050" dirty="0"/>
          </a:p>
        </p:txBody>
      </p:sp>
      <p:sp>
        <p:nvSpPr>
          <p:cNvPr id="50" name="Shape 38"/>
          <p:cNvSpPr/>
          <p:nvPr/>
        </p:nvSpPr>
        <p:spPr>
          <a:xfrm>
            <a:off x="9765792" y="4096512"/>
            <a:ext cx="214884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51" name="Shape 39"/>
          <p:cNvSpPr/>
          <p:nvPr/>
        </p:nvSpPr>
        <p:spPr>
          <a:xfrm>
            <a:off x="9985248" y="4334256"/>
            <a:ext cx="603504" cy="60350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0696" y="4489704"/>
            <a:ext cx="292608" cy="292608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9985248" y="5029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endParaRPr lang="en-US" sz="1400" dirty="0"/>
          </a:p>
        </p:txBody>
      </p:sp>
      <p:sp>
        <p:nvSpPr>
          <p:cNvPr id="54" name="Text 41"/>
          <p:cNvSpPr/>
          <p:nvPr/>
        </p:nvSpPr>
        <p:spPr>
          <a:xfrm>
            <a:off x="9985248" y="5340096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+ OSM for /map and /nearby.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&amp; RETRIEVAL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writes  ·  two kinds of RAG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0" cy="82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82880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121408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1328" y="21031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Write-safety — three gates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005840" y="26700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SAP mutation reaches production until it clears every gate.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1005840" y="32004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/>
        </p:spPr>
      </p:sp>
      <p:sp>
        <p:nvSpPr>
          <p:cNvPr id="10" name="Text 6"/>
          <p:cNvSpPr/>
          <p:nvPr/>
        </p:nvSpPr>
        <p:spPr>
          <a:xfrm>
            <a:off x="100584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54480" y="31729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Dry-run.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exact would-be POST/PATCH body — nothing is written.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005840" y="38587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/>
        </p:spPr>
      </p:sp>
      <p:sp>
        <p:nvSpPr>
          <p:cNvPr id="13" name="Text 9"/>
          <p:cNvSpPr/>
          <p:nvPr/>
        </p:nvSpPr>
        <p:spPr>
          <a:xfrm>
            <a:off x="1005840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54480" y="38313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flag.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auto_writeback_enabled must be on for the tenant.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1005840" y="45171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/>
        </p:spPr>
      </p:sp>
      <p:sp>
        <p:nvSpPr>
          <p:cNvPr id="16" name="Text 12"/>
          <p:cNvSpPr/>
          <p:nvPr/>
        </p:nvSpPr>
        <p:spPr>
          <a:xfrm>
            <a:off x="1005840" y="4517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554480" y="44897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ack.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tenant requires explicit acknowledgeProduction.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005840" y="5221224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self-healing retries parse SAP's own error text to drop rejected fields, append to single-instance texts, and ride out edit-locks.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181344" y="182880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12140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04304" y="21031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RAG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528816" y="26700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that actually feeds generation — not just search.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547104" y="3236976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19"/>
          <p:cNvSpPr/>
          <p:nvPr/>
        </p:nvSpPr>
        <p:spPr>
          <a:xfrm>
            <a:off x="6784848" y="315468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— similar tickets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784848" y="34747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text-embedding-3-small  ·  SQLite cosine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784848" y="37673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auto-embed on every lookup;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/similar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/parts-check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/order-parts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retrieve the closest past resolutions to suggest parts.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547104" y="5020056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8" name="Text 23"/>
          <p:cNvSpPr/>
          <p:nvPr/>
        </p:nvSpPr>
        <p:spPr>
          <a:xfrm>
            <a:off x="6784848" y="49377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RAG — knowledge base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6784848" y="5257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 search → body fetch → Claude extraction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784848" y="555040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/knowledge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/kb-resolve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pull article bodies and extract the real fix steps — then write them back as the resolution.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THE NUMBERS · AND THE HONEST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know before you rely on it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0" cy="82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82880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" y="19933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04672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MCP tools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182880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566160" y="19933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3621024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write-safety gates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91072" y="182880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82512" y="19933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6437376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07424" y="182880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98864" y="19933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200" dirty="0"/>
          </a:p>
        </p:txBody>
      </p:sp>
      <p:sp>
        <p:nvSpPr>
          <p:cNvPr id="16" name="Text 13"/>
          <p:cNvSpPr/>
          <p:nvPr/>
        </p:nvSpPr>
        <p:spPr>
          <a:xfrm>
            <a:off x="9253728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panel, zero tab-switching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" y="3794760"/>
            <a:ext cx="10881360" cy="2514600"/>
          </a:xfrm>
          <a:prstGeom prst="roundRect">
            <a:avLst>
              <a:gd name="adj" fmla="val 3273"/>
            </a:avLst>
          </a:prstGeom>
          <a:solidFill>
            <a:srgbClr val="FBFAF4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60120" y="4050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 — the honest version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7552" y="4590288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0" name="Text 17"/>
          <p:cNvSpPr/>
          <p:nvPr/>
        </p:nvSpPr>
        <p:spPr>
          <a:xfrm>
            <a:off x="1225296" y="4453128"/>
            <a:ext cx="10104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4A3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Single-tenant-hardened.  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tuned against a live SAP Service Cloud V1 tenant; other source systems are out of scope.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87552" y="5157216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2" name="Text 19"/>
          <p:cNvSpPr/>
          <p:nvPr/>
        </p:nvSpPr>
        <p:spPr>
          <a:xfrm>
            <a:off x="1225296" y="5020056"/>
            <a:ext cx="10104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4A3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only as rich as what's been visited.  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index self-populates as tickets are browsed, so it's sparse on cold tenants — hence parallel OData fallbacks.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7552" y="5724144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4" name="Text 21"/>
          <p:cNvSpPr/>
          <p:nvPr/>
        </p:nvSpPr>
        <p:spPr>
          <a:xfrm>
            <a:off x="1225296" y="5586984"/>
            <a:ext cx="10104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4A3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features need config.  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extraction depends on direct mode; ECC pricing needs client certs and a SOAP template that isn't fully wired yet.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TAKES TO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set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0" cy="82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77824" y="2066544"/>
            <a:ext cx="548640" cy="54864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2037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7824" y="2706624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engineering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14400" y="3127248"/>
            <a:ext cx="216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/ Node.js</a:t>
            </a:r>
            <a:endParaRPr lang="en-US" sz="1050" dirty="0"/>
          </a:p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— 22k-line MV3 extension</a:t>
            </a:r>
            <a:endParaRPr lang="en-US" sz="1050" dirty="0"/>
          </a:p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MV3 APIs (inject, side panel)</a:t>
            </a:r>
            <a:endParaRPr lang="en-US" sz="1050" dirty="0"/>
          </a:p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(admin UI)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529584" y="182880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F6F3FE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767328" y="2066544"/>
            <a:ext cx="548640" cy="54864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220370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67328" y="2706624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C4C domain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3767328" y="3017520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DIFFERENTIATOR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3803904" y="3273552"/>
            <a:ext cx="216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v1 + entity model</a:t>
            </a:r>
            <a:endParaRPr lang="en-US" sz="1050" dirty="0"/>
          </a:p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Codes: ZRP3 · ZALT · TypeCode 10022</a:t>
            </a:r>
            <a:endParaRPr lang="en-US" sz="1050" dirty="0"/>
          </a:p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Tenant-quirk reverse-engineering</a:t>
            </a:r>
            <a:endParaRPr lang="en-US" sz="1050" dirty="0"/>
          </a:p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/ CPI · client-cert mTLS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19088" y="182880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656832" y="2066544"/>
            <a:ext cx="548640" cy="54864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20370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56832" y="2706624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applied ML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693408" y="3127248"/>
            <a:ext cx="216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app engineering + streaming</a:t>
            </a:r>
            <a:endParaRPr lang="en-US" sz="1050" dirty="0"/>
          </a:p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embeddings + KB retrieval</a:t>
            </a:r>
            <a:endParaRPr lang="en-US" sz="1050" dirty="0"/>
          </a:p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tool-surface design</a:t>
            </a:r>
            <a:endParaRPr lang="en-US" sz="1050" dirty="0"/>
          </a:p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Judgment: when NOT to use the LLM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9308592" y="182880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546336" y="2066544"/>
            <a:ext cx="548640" cy="54864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496" y="2203704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546336" y="2706624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9582912" y="3127248"/>
            <a:ext cx="216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caching &amp; TTLs</a:t>
            </a:r>
            <a:endParaRPr lang="en-US" sz="1050" dirty="0"/>
          </a:p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Write-safety &amp; security</a:t>
            </a:r>
            <a:endParaRPr lang="en-US" sz="1050" dirty="0"/>
          </a:p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· Azure AD · bearer</a:t>
            </a:r>
            <a:endParaRPr lang="en-US" sz="1050" dirty="0"/>
          </a:p>
          <a:p>
            <a:pPr marL="139700" indent="-1397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— geocode + tiles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40080" y="4892040"/>
            <a:ext cx="10908792" cy="1463040"/>
          </a:xfrm>
          <a:prstGeom prst="roundRect">
            <a:avLst>
              <a:gd name="adj" fmla="val 5625"/>
            </a:avLst>
          </a:prstGeom>
          <a:solidFill>
            <a:srgbClr val="0F1A33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202936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54480" y="5166360"/>
            <a:ext cx="9811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hiring bottleneck.  </a:t>
            </a:r>
            <a:pPr indent="0" marL="0">
              <a:buNone/>
            </a:pPr>
            <a:r>
              <a:rPr lang="en-US" sz="140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+ Chrome-extension web-dev 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deep SAP C4C guts rarely live in one person.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554480" y="5715000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Realistic team — </a:t>
            </a:r>
            <a:pPr indent="0" marL="0">
              <a:buNone/>
            </a:pPr>
            <a:r>
              <a:rPr lang="en-US" sz="1100" dirty="0">
                <a:solidFill>
                  <a:srgbClr val="C6D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full-stack TS/JS  ·  SAP integration specialist  ·  AI / LLM engineer  ·  product owner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built in Scrum / Agile?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0" cy="82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82880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1FAF5"/>
          </a:solidFill>
          <a:ln w="12700">
            <a:solidFill>
              <a:srgbClr val="BFE3D2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10312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20848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Scrum cleanly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024128" y="26517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4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UX · Field app · Admin page</a:t>
            </a:r>
            <a:endParaRPr lang="en-US" sz="12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4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— one story per command</a:t>
            </a:r>
            <a:endParaRPr lang="en-US" sz="1250" dirty="0"/>
          </a:p>
          <a:p>
            <a:pPr marL="139700" indent="-139700">
              <a:buSzPct val="100000"/>
              <a:buChar char="•"/>
            </a:pPr>
            <a:r>
              <a:rPr lang="en-US" sz="1250" dirty="0">
                <a:solidFill>
                  <a:srgbClr val="24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settings, caching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024128" y="36758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C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Estimable · demoable each sprint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181344" y="182880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BF5EA"/>
          </a:solidFill>
          <a:ln w="12700">
            <a:solidFill>
              <a:srgbClr val="EAD6AE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10312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86016" y="20848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Strains Scrum estimation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6547104" y="26517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E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integration &amp; write-back</a:t>
            </a:r>
            <a:endParaRPr lang="en-US" sz="12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6E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17 versions (order-parts) · 22 (interactions) · 13 (map)</a:t>
            </a:r>
            <a:endParaRPr lang="en-US" sz="1250" dirty="0"/>
          </a:p>
          <a:p>
            <a:pPr marL="139700" indent="-139700">
              <a:buSzPct val="100000"/>
              <a:buChar char="•"/>
            </a:pPr>
            <a:r>
              <a:rPr lang="en-US" sz="1250" dirty="0">
                <a:solidFill>
                  <a:srgbClr val="6E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on live-SAP discovery &amp; access grants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547104" y="36758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6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R&amp;D — not fixed-scope construction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58368" y="43708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an Agile shell, spikes for the uncertain core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58368" y="4754880"/>
            <a:ext cx="208483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95604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9536" y="5321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Dual-track spikes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859536" y="5577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separate from delivery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2871216" y="4754880"/>
            <a:ext cx="208483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384" y="4956048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072384" y="5321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Time-box, don't point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3072384" y="5577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effort, not outcome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5084064" y="4754880"/>
            <a:ext cx="208483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232" y="4956048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85232" y="5321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= a live SAP write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5285232" y="5577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isn't done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7296912" y="4754880"/>
            <a:ext cx="208483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4956048"/>
            <a:ext cx="310896" cy="31089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498080" y="5321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tenant knowledge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7498080" y="5577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notes as a practice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9509760" y="4754880"/>
            <a:ext cx="208483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0928" y="4956048"/>
            <a:ext cx="310896" cy="31089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710928" y="5321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 / command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9710928" y="5577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/triage, then /order-parts</a:t>
            </a:r>
            <a:endParaRPr lang="en-US" sz="950" dirty="0"/>
          </a:p>
        </p:txBody>
      </p:sp>
      <p:sp>
        <p:nvSpPr>
          <p:cNvPr id="36" name="Text 26"/>
          <p:cNvSpPr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— </a:t>
            </a:r>
            <a:pPr algn="ctr" indent="0" marL="0">
              <a:buNone/>
            </a:pPr>
            <a:r>
              <a:rPr lang="en-US" sz="13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for the product &amp; UI layer;  Kanban-with-spikes for the SAP-integration core.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PLANNING ESTIMATE · SMALL TEAM, FROM SCRATCH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to build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0" cy="82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56320" y="2240280"/>
            <a:ext cx="2773680" cy="2944368"/>
          </a:xfrm>
          <a:prstGeom prst="rect">
            <a:avLst/>
          </a:prstGeom>
          <a:solidFill>
            <a:srgbClr val="EEF0FE"/>
          </a:solidFill>
          <a:ln/>
        </p:spPr>
      </p:sp>
      <p:sp>
        <p:nvSpPr>
          <p:cNvPr id="6" name="Text 3"/>
          <p:cNvSpPr/>
          <p:nvPr/>
        </p:nvSpPr>
        <p:spPr>
          <a:xfrm>
            <a:off x="8656320" y="1755648"/>
            <a:ext cx="277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 WINDOW · mo 6–9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40080" y="19568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108960" y="2240280"/>
            <a:ext cx="0" cy="2944368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0" y="1956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033520" y="2240280"/>
            <a:ext cx="0" cy="2944368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50640" y="1956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958080" y="2240280"/>
            <a:ext cx="0" cy="2944368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75200" y="1956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82640" y="2240280"/>
            <a:ext cx="0" cy="2944368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99760" y="1956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807200" y="2240280"/>
            <a:ext cx="0" cy="2944368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4320" y="1956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731760" y="2240280"/>
            <a:ext cx="0" cy="2944368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48880" y="1956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656320" y="2240280"/>
            <a:ext cx="0" cy="2944368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73440" y="1956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580880" y="2240280"/>
            <a:ext cx="0" cy="2944368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98000" y="1956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0505440" y="2240280"/>
            <a:ext cx="0" cy="2944368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322560" y="1956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1430000" y="2240280"/>
            <a:ext cx="0" cy="2944368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247120" y="1956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0080" y="23317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Foundations &amp; access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108960" y="2432304"/>
            <a:ext cx="924560" cy="274320"/>
          </a:xfrm>
          <a:prstGeom prst="roundRect">
            <a:avLst>
              <a:gd name="adj" fmla="val 23333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163824" y="2432304"/>
            <a:ext cx="79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2–4 wks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40080" y="28072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Read-only core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802380" y="2907792"/>
            <a:ext cx="1386840" cy="274320"/>
          </a:xfrm>
          <a:prstGeom prst="roundRect">
            <a:avLst>
              <a:gd name="adj" fmla="val 23333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857244" y="2907792"/>
            <a:ext cx="1258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4–6 wks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40080" y="32826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Write-back + safety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958080" y="3383280"/>
            <a:ext cx="2773680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5012944" y="3383280"/>
            <a:ext cx="2645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4–8 wks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40080" y="37581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AI / RAG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882640" y="3858768"/>
            <a:ext cx="1617980" cy="274320"/>
          </a:xfrm>
          <a:prstGeom prst="roundRect">
            <a:avLst>
              <a:gd name="adj" fmla="val 23333"/>
            </a:avLst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5937504" y="3858768"/>
            <a:ext cx="1489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3–5 wks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40080" y="42336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Breadth + polish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7269480" y="4334256"/>
            <a:ext cx="2311400" cy="274320"/>
          </a:xfrm>
          <a:prstGeom prst="roundRect">
            <a:avLst>
              <a:gd name="adj" fmla="val 2333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7324344" y="4334256"/>
            <a:ext cx="218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4–6 wks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640080" y="47091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· Hardening + pilot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9118600" y="4809744"/>
            <a:ext cx="2311400" cy="274320"/>
          </a:xfrm>
          <a:prstGeom prst="roundRect">
            <a:avLst>
              <a:gd name="adj" fmla="val 23333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9173464" y="4809744"/>
            <a:ext cx="218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3–6 wks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5651500" y="2221992"/>
            <a:ext cx="0" cy="2962656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4691380" y="17556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MVP · ~wk 8–10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3108960" y="52578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overlap by design (dual-track).  ⚠ P2 · Write-back is the high-variance SAP-integration core.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40080" y="5532120"/>
            <a:ext cx="10908792" cy="841248"/>
          </a:xfrm>
          <a:prstGeom prst="roundRect">
            <a:avLst>
              <a:gd name="adj" fmla="val 9783"/>
            </a:avLst>
          </a:prstGeom>
          <a:solidFill>
            <a:srgbClr val="0F1A33"/>
          </a:solidFill>
          <a:ln/>
        </p:spPr>
      </p:sp>
      <p:sp>
        <p:nvSpPr>
          <p:cNvPr id="50" name="Text 47"/>
          <p:cNvSpPr/>
          <p:nvPr/>
        </p:nvSpPr>
        <p:spPr>
          <a:xfrm>
            <a:off x="960120" y="5678424"/>
            <a:ext cx="10268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~8–10 wks</a:t>
            </a:r>
            <a:pPr indent="0" marL="0">
              <a:buNone/>
            </a:pPr>
            <a:r>
              <a:rPr lang="en-US" sz="130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Typical small team ~6 months (9 with SAP-access friction)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960120" y="6025896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Wildcard that moves everything:  SAP tenant access + a seasoned C4C integrator on the team.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CHANNELS &amp; SURFACE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core, many front doors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0" cy="82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10512"/>
            <a:ext cx="2670048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77824" y="2029968"/>
            <a:ext cx="512064" cy="51206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167128"/>
            <a:ext cx="237744" cy="2377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571293" y="2066544"/>
            <a:ext cx="537667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9" name="Text 5"/>
          <p:cNvSpPr/>
          <p:nvPr/>
        </p:nvSpPr>
        <p:spPr>
          <a:xfrm>
            <a:off x="2571293" y="2066544"/>
            <a:ext cx="537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877824" y="2651760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77824" y="296265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In-SAP side panel · screen-scrape · auto-ticket context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32" y="3511296"/>
            <a:ext cx="237744" cy="23774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529584" y="1810512"/>
            <a:ext cx="2670048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767328" y="2029968"/>
            <a:ext cx="512064" cy="51206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488" y="2167128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837176" y="2066544"/>
            <a:ext cx="1161288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17" name="Text 11"/>
          <p:cNvSpPr/>
          <p:nvPr/>
        </p:nvSpPr>
        <p:spPr>
          <a:xfrm>
            <a:off x="4837176" y="2066544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REUSES REACT UI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3767328" y="2651760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web app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767328" y="296265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techs — /nearby, /book-time, /parts on-site</a:t>
            </a:r>
            <a:endParaRPr lang="en-US" sz="10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3511296"/>
            <a:ext cx="237744" cy="23774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419088" y="1810512"/>
            <a:ext cx="2670048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656832" y="2029968"/>
            <a:ext cx="512064" cy="51206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2167128"/>
            <a:ext cx="237744" cy="23774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066837" y="2066544"/>
            <a:ext cx="821131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25" name="Text 17"/>
          <p:cNvSpPr/>
          <p:nvPr/>
        </p:nvSpPr>
        <p:spPr>
          <a:xfrm>
            <a:off x="8066837" y="2066544"/>
            <a:ext cx="821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MCP-READY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6656832" y="2651760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app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656832" y="296265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SDK is MCP — mind enterprise data governance</a:t>
            </a:r>
            <a:endParaRPr lang="en-US" sz="10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3511296"/>
            <a:ext cx="237744" cy="237744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9308592" y="1810512"/>
            <a:ext cx="2670048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9546336" y="2029968"/>
            <a:ext cx="512064" cy="51206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3496" y="2167128"/>
            <a:ext cx="237744" cy="237744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10786262" y="2066544"/>
            <a:ext cx="991210" cy="274320"/>
          </a:xfrm>
          <a:prstGeom prst="roundRect">
            <a:avLst>
              <a:gd name="adj" fmla="val 50000"/>
            </a:avLst>
          </a:prstGeom>
          <a:solidFill>
            <a:srgbClr val="E7EBF1"/>
          </a:solidFill>
          <a:ln/>
        </p:spPr>
      </p:sp>
      <p:sp>
        <p:nvSpPr>
          <p:cNvPr id="33" name="Text 23"/>
          <p:cNvSpPr/>
          <p:nvPr/>
        </p:nvSpPr>
        <p:spPr>
          <a:xfrm>
            <a:off x="10786262" y="2066544"/>
            <a:ext cx="99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PATTERN</a:t>
            </a:r>
            <a:endParaRPr lang="en-US" sz="750" dirty="0"/>
          </a:p>
        </p:txBody>
      </p:sp>
      <p:sp>
        <p:nvSpPr>
          <p:cNvPr id="34" name="Text 24"/>
          <p:cNvSpPr/>
          <p:nvPr/>
        </p:nvSpPr>
        <p:spPr>
          <a:xfrm>
            <a:off x="9546336" y="2651760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Teams bot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9546336" y="296265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front door on the very same tool layer</a:t>
            </a:r>
            <a:endParaRPr lang="en-US" sz="10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24744" y="3511296"/>
            <a:ext cx="237744" cy="237744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640080" y="3913632"/>
            <a:ext cx="10908792" cy="1207008"/>
          </a:xfrm>
          <a:prstGeom prst="roundRect">
            <a:avLst>
              <a:gd name="adj" fmla="val 7576"/>
            </a:avLst>
          </a:prstGeom>
          <a:solidFill>
            <a:srgbClr val="F6F3FE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" y="4206240"/>
            <a:ext cx="457200" cy="45720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517904" y="4133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SHARED CORE</a:t>
            </a:r>
            <a:endParaRPr lang="en-US" sz="1000" dirty="0"/>
          </a:p>
        </p:txBody>
      </p:sp>
      <p:sp>
        <p:nvSpPr>
          <p:cNvPr id="40" name="Text 28"/>
          <p:cNvSpPr/>
          <p:nvPr/>
        </p:nvSpPr>
        <p:spPr>
          <a:xfrm>
            <a:off x="1517904" y="43708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multi-tenant shim · 60-tool MCP + HTTP layer</a:t>
            </a:r>
            <a:endParaRPr lang="en-US" sz="1700" dirty="0"/>
          </a:p>
        </p:txBody>
      </p:sp>
      <p:sp>
        <p:nvSpPr>
          <p:cNvPr id="41" name="Shape 29"/>
          <p:cNvSpPr/>
          <p:nvPr/>
        </p:nvSpPr>
        <p:spPr>
          <a:xfrm>
            <a:off x="1517904" y="4782312"/>
            <a:ext cx="125638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CFF3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1517904" y="4782312"/>
            <a:ext cx="1256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 C4C OData</a:t>
            </a:r>
            <a:endParaRPr lang="en-US" sz="900" dirty="0"/>
          </a:p>
        </p:txBody>
      </p:sp>
      <p:sp>
        <p:nvSpPr>
          <p:cNvPr id="43" name="Shape 31"/>
          <p:cNvSpPr/>
          <p:nvPr/>
        </p:nvSpPr>
        <p:spPr>
          <a:xfrm>
            <a:off x="2920594" y="478231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CFF3"/>
            </a:solidFill>
            <a:prstDash val="solid"/>
          </a:ln>
        </p:spPr>
      </p:sp>
      <p:sp>
        <p:nvSpPr>
          <p:cNvPr id="44" name="Text 32"/>
          <p:cNvSpPr/>
          <p:nvPr/>
        </p:nvSpPr>
        <p:spPr>
          <a:xfrm>
            <a:off x="2920594" y="4782312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/ BYO-LLM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4537253" y="4782312"/>
            <a:ext cx="89977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CFF3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4537253" y="4782312"/>
            <a:ext cx="89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 RAG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5583326" y="4782312"/>
            <a:ext cx="118506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CFF3"/>
            </a:solidFill>
            <a:prstDash val="solid"/>
          </a:ln>
        </p:spPr>
      </p:sp>
      <p:sp>
        <p:nvSpPr>
          <p:cNvPr id="48" name="Text 36"/>
          <p:cNvSpPr/>
          <p:nvPr/>
        </p:nvSpPr>
        <p:spPr>
          <a:xfrm>
            <a:off x="5583326" y="4782312"/>
            <a:ext cx="118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 writes</a:t>
            </a:r>
            <a:endParaRPr lang="en-US" sz="900" dirty="0"/>
          </a:p>
        </p:txBody>
      </p:sp>
      <p:sp>
        <p:nvSpPr>
          <p:cNvPr id="49" name="Shape 37"/>
          <p:cNvSpPr/>
          <p:nvPr/>
        </p:nvSpPr>
        <p:spPr>
          <a:xfrm>
            <a:off x="6914693" y="4782312"/>
            <a:ext cx="196961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CFF3"/>
            </a:solidFill>
            <a:prstDash val="solid"/>
          </a:ln>
        </p:spPr>
      </p:sp>
      <p:sp>
        <p:nvSpPr>
          <p:cNvPr id="50" name="Text 38"/>
          <p:cNvSpPr/>
          <p:nvPr/>
        </p:nvSpPr>
        <p:spPr>
          <a:xfrm>
            <a:off x="6914693" y="4782312"/>
            <a:ext cx="1969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Per-tenant auth + certs</a:t>
            </a:r>
            <a:endParaRPr lang="en-US" sz="900" dirty="0"/>
          </a:p>
        </p:txBody>
      </p:sp>
      <p:sp>
        <p:nvSpPr>
          <p:cNvPr id="51" name="Shape 39"/>
          <p:cNvSpPr/>
          <p:nvPr/>
        </p:nvSpPr>
        <p:spPr>
          <a:xfrm>
            <a:off x="640080" y="5394960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0F1A33"/>
          </a:solidFill>
          <a:ln/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688" y="5669280"/>
            <a:ext cx="365760" cy="365760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1481328" y="5541264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unlock —  </a:t>
            </a:r>
            <a:pPr indent="0" marL="0">
              <a:buNone/>
            </a:pPr>
            <a:r>
              <a:rPr lang="en-US" sz="13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hosted multi-tenant shim once; every front door then falls out nearly for free.</a:t>
            </a:r>
            <a:endParaRPr lang="en-US" sz="1350" dirty="0"/>
          </a:p>
        </p:txBody>
      </p:sp>
      <p:sp>
        <p:nvSpPr>
          <p:cNvPr id="54" name="Text 41"/>
          <p:cNvSpPr/>
          <p:nvPr/>
        </p:nvSpPr>
        <p:spPr>
          <a:xfrm>
            <a:off x="1481328" y="5897880"/>
            <a:ext cx="9902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Doesn't port: screen-scrape + auto-ticket context are Chrome-extension-only — other surfaces pass a ticket ID / deep link.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 REF-ARCH 137800 · THIRD-PARTY MCP ACCESS TO SAP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to SAP's blessed pattern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0" cy="822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now documents third-party MCP → SAP as a supported pattern. </a:t>
            </a:r>
            <a:pPr indent="0" marL="0">
              <a:buNone/>
            </a:pPr>
            <a:r>
              <a:rPr lang="en-US" sz="12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C4S is squarely inside Pattern 1 (external MCP server calling SAP APIs).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312724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SAP-RECOMMENDED CONTROL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26280" y="2194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C4S TODAY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60120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14400" y="2542032"/>
            <a:ext cx="10360152" cy="0"/>
          </a:xfrm>
          <a:prstGeom prst="line">
            <a:avLst/>
          </a:prstGeom>
          <a:noFill/>
          <a:ln w="12700">
            <a:solidFill>
              <a:srgbClr val="E2E7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" y="2542032"/>
            <a:ext cx="10835640" cy="445008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542032"/>
            <a:ext cx="3520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enrichment over raw OData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26280" y="2542032"/>
            <a:ext cx="48920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60 business-named tools + gated writes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806940" y="261823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5" name="Text 12"/>
          <p:cNvSpPr/>
          <p:nvPr/>
        </p:nvSpPr>
        <p:spPr>
          <a:xfrm>
            <a:off x="9806940" y="26182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14400" y="2987040"/>
            <a:ext cx="3520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8693 token exchange + agent identity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26280" y="2987040"/>
            <a:ext cx="48920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integration user + bearer tokens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806940" y="306324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19" name="Text 16"/>
          <p:cNvSpPr/>
          <p:nvPr/>
        </p:nvSpPr>
        <p:spPr>
          <a:xfrm>
            <a:off x="9806940" y="30632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6656" y="3432048"/>
            <a:ext cx="10835640" cy="445008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3432048"/>
            <a:ext cx="3520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Suite MCP Gateway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26280" y="3432048"/>
            <a:ext cx="48920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OData from a local shim (bypassed)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806940" y="350824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24" name="Text 21"/>
          <p:cNvSpPr/>
          <p:nvPr/>
        </p:nvSpPr>
        <p:spPr>
          <a:xfrm>
            <a:off x="9806940" y="350824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14400" y="3877056"/>
            <a:ext cx="3520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on SAP BTP (CF / Kyma)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26280" y="3877056"/>
            <a:ext cx="48920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/ self-hosted (hosted milestone planned)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806940" y="3953256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8" name="Text 25"/>
          <p:cNvSpPr/>
          <p:nvPr/>
        </p:nvSpPr>
        <p:spPr>
          <a:xfrm>
            <a:off x="9806940" y="395325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76656" y="4322064"/>
            <a:ext cx="10835640" cy="445008"/>
          </a:xfrm>
          <a:prstGeom prst="rect">
            <a:avLst/>
          </a:prstGeom>
          <a:solidFill>
            <a:srgbClr val="F7F9FD"/>
          </a:solidFill>
          <a:ln/>
        </p:spPr>
      </p:sp>
      <p:sp>
        <p:nvSpPr>
          <p:cNvPr id="30" name="Text 27"/>
          <p:cNvSpPr/>
          <p:nvPr/>
        </p:nvSpPr>
        <p:spPr>
          <a:xfrm>
            <a:off x="914400" y="4322064"/>
            <a:ext cx="3520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· validation · tracing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26280" y="4322064"/>
            <a:ext cx="48920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writes; no standardized tracing yet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9806940" y="439826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33" name="Text 30"/>
          <p:cNvSpPr/>
          <p:nvPr/>
        </p:nvSpPr>
        <p:spPr>
          <a:xfrm>
            <a:off x="9806940" y="439826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14400" y="4767072"/>
            <a:ext cx="3520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correctness (no bad transactions)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26280" y="4767072"/>
            <a:ext cx="48920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3-gate + self-heal + single-instance recovery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9806940" y="48432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37" name="Text 34"/>
          <p:cNvSpPr/>
          <p:nvPr/>
        </p:nvSpPr>
        <p:spPr>
          <a:xfrm>
            <a:off x="9806940" y="48432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40080" y="5413248"/>
            <a:ext cx="10908792" cy="896112"/>
          </a:xfrm>
          <a:prstGeom prst="roundRect">
            <a:avLst>
              <a:gd name="adj" fmla="val 9184"/>
            </a:avLst>
          </a:prstGeom>
          <a:solidFill>
            <a:srgbClr val="0F1A33"/>
          </a:solidFill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5696712"/>
            <a:ext cx="365760" cy="36576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1481328" y="5568696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conformant —  </a:t>
            </a:r>
            <a:pPr indent="0" marL="0">
              <a:buNone/>
            </a:pPr>
            <a:r>
              <a:rPr lang="en-US" sz="130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two gaps: per-agent identity (RFC 8693)  +  route via Integration Suite MCP Gateway.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1481328" y="5925312"/>
            <a:ext cx="9902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market it as reference-conformant &amp; Joule-consumable.  (API/MCP core only — scraping &amp; Digital Access licensing stay out of scope.)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where — and where to host it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0" cy="82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78308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32688" y="2020824"/>
            <a:ext cx="512064" cy="51206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167128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72768" y="202082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side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572768" y="233172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shared deployment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24128" y="269748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 + MCP server (60 tools)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C4C connection + OAuth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certs · LLM keys · secrets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RAG index (SQLite → Postgres at scale)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+ write-safety gates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identity (RFC 8693) + tracing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81344" y="178308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55664" y="2020824"/>
            <a:ext cx="512064" cy="51206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16712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95744" y="202082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user / client side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095744" y="233172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user · thin client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47104" y="269748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— UI + slash commands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SAP browser session (context)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token + personal preferences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config (pushed via managed storage)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UI caches (geocode, InstallationPoint)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· no certs · no Node runtime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58368" y="4178808"/>
            <a:ext cx="10908792" cy="402336"/>
          </a:xfrm>
          <a:prstGeom prst="roundRect">
            <a:avLst>
              <a:gd name="adj" fmla="val 18182"/>
            </a:avLst>
          </a:prstGeom>
          <a:solidFill>
            <a:srgbClr val="0F1A3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79392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25296" y="4178808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boundary — </a:t>
            </a:r>
            <a:pPr indent="0" marL="0">
              <a:buNone/>
            </a:pPr>
            <a:r>
              <a:rPr lang="en-US" sz="1150" dirty="0">
                <a:solidFill>
                  <a:srgbClr val="C6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certs, SAP credentials &amp; LLM keys stay server-side only; the client holds just the user's token + preferences.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58368" y="46908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ONCE · STORE IN ANY PRIVATE REGISTRY · RUN ON ANY CLOUD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58368" y="5001768"/>
            <a:ext cx="333146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59536" y="5184648"/>
            <a:ext cx="457200" cy="45720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530352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26464" y="5184648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once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877824" y="5678424"/>
            <a:ext cx="2947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 image — bundled / bytecode. Source is NOT shipped.</a:t>
            </a:r>
            <a:endParaRPr lang="en-US" sz="9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1272" y="5413248"/>
            <a:ext cx="274320" cy="27432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447032" y="5001768"/>
            <a:ext cx="333146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4648200" y="5184648"/>
            <a:ext cx="457200" cy="45720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7072" y="5303520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215128" y="5184648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registry · your pick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4666488" y="5678424"/>
            <a:ext cx="2947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· AWS ECR · Azure ACR · GCP Artifact Registry · Harbor</a:t>
            </a:r>
            <a:endParaRPr lang="en-US" sz="9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9936" y="5413248"/>
            <a:ext cx="274320" cy="27432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8235696" y="5001768"/>
            <a:ext cx="333146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8436864" y="5184648"/>
            <a:ext cx="457200" cy="45720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5736" y="5303520"/>
            <a:ext cx="219456" cy="21945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003792" y="5184648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any cloud</a:t>
            </a:r>
            <a:endParaRPr lang="en-US" sz="1300" dirty="0"/>
          </a:p>
        </p:txBody>
      </p:sp>
      <p:sp>
        <p:nvSpPr>
          <p:cNvPr id="37" name="Text 26"/>
          <p:cNvSpPr/>
          <p:nvPr/>
        </p:nvSpPr>
        <p:spPr>
          <a:xfrm>
            <a:off x="8455152" y="5678424"/>
            <a:ext cx="2947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Azure · GCP · SAP BTP — managed containers (default); Kyma only for SAP-conformant.</a:t>
            </a:r>
            <a:endParaRPr lang="en-US" sz="950" dirty="0"/>
          </a:p>
        </p:txBody>
      </p:sp>
      <p:sp>
        <p:nvSpPr>
          <p:cNvPr id="38" name="Text 27"/>
          <p:cNvSpPr/>
          <p:nvPr/>
        </p:nvSpPr>
        <p:spPr>
          <a:xfrm>
            <a:off x="676656" y="61722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</a:t>
            </a:r>
            <a:pPr indent="0" marL="0">
              <a:buNone/>
            </a:pPr>
            <a:r>
              <a:rPr lang="en-US" sz="900" dirty="0">
                <a:solidFill>
                  <a:srgbClr val="45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(single-node) → Postgres + pgvector (only at scale).</a:t>
            </a:r>
            <a:pPr indent="0" marL="0">
              <a:buNone/>
            </a:pPr>
            <a:r>
              <a:rPr lang="en-US" sz="90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Avoid raw serverless functions for the shim (SSE streaming + native deps).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CHANNELS · MORE FRONT DOORS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surface, one core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0" cy="82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810512"/>
            <a:ext cx="352044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2029968"/>
            <a:ext cx="512064" cy="51206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167128"/>
            <a:ext cx="237744" cy="2377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156509" y="2084832"/>
            <a:ext cx="821131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9" name="Text 5"/>
          <p:cNvSpPr/>
          <p:nvPr/>
        </p:nvSpPr>
        <p:spPr>
          <a:xfrm>
            <a:off x="3156509" y="2084832"/>
            <a:ext cx="821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FIELD-FIT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896112" y="26517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96112" y="298094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— book time, log parts &amp; status while driving or on the tool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407408" y="1810512"/>
            <a:ext cx="352044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45152" y="2029968"/>
            <a:ext cx="512064" cy="51206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167128"/>
            <a:ext cx="237744" cy="2377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848856" y="2084832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16" name="Text 11"/>
          <p:cNvSpPr/>
          <p:nvPr/>
        </p:nvSpPr>
        <p:spPr>
          <a:xfrm>
            <a:off x="6848856" y="2084832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DESK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4645152" y="26517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/ email add-in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645152" y="298094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replies &amp; ticket summaries where service agents already work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156448" y="1810512"/>
            <a:ext cx="352044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94192" y="2029968"/>
            <a:ext cx="512064" cy="51206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2167128"/>
            <a:ext cx="237744" cy="23774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0597896" y="2084832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23" name="Text 17"/>
          <p:cNvSpPr/>
          <p:nvPr/>
        </p:nvSpPr>
        <p:spPr>
          <a:xfrm>
            <a:off x="10597896" y="2084832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SAP-NATIVE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8394192" y="26517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Joule tool provider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394192" y="298094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MCP server so Joule agents call it (A2A / ref-arch)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58368" y="3657600"/>
            <a:ext cx="352044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96112" y="3877056"/>
            <a:ext cx="512064" cy="51206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014216"/>
            <a:ext cx="237744" cy="237744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3099816" y="3931920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0" name="Text 23"/>
          <p:cNvSpPr/>
          <p:nvPr/>
        </p:nvSpPr>
        <p:spPr>
          <a:xfrm>
            <a:off x="3099816" y="393192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MCP-NATIVE</a:t>
            </a:r>
            <a:endParaRPr lang="en-US" sz="750" dirty="0"/>
          </a:p>
        </p:txBody>
      </p:sp>
      <p:sp>
        <p:nvSpPr>
          <p:cNvPr id="31" name="Text 24"/>
          <p:cNvSpPr/>
          <p:nvPr/>
        </p:nvSpPr>
        <p:spPr>
          <a:xfrm>
            <a:off x="896112" y="4498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 client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896112" y="482803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Desktop, IDEs &amp; other agents connect with zero new integration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407408" y="3657600"/>
            <a:ext cx="352044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645152" y="3877056"/>
            <a:ext cx="512064" cy="51206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4014216"/>
            <a:ext cx="237744" cy="237744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6792163" y="3931920"/>
            <a:ext cx="934517" cy="27432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7" name="Text 29"/>
          <p:cNvSpPr/>
          <p:nvPr/>
        </p:nvSpPr>
        <p:spPr>
          <a:xfrm>
            <a:off x="6792163" y="3931920"/>
            <a:ext cx="9345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LIGHTWEIGHT</a:t>
            </a:r>
            <a:endParaRPr lang="en-US" sz="750" dirty="0"/>
          </a:p>
        </p:txBody>
      </p:sp>
      <p:sp>
        <p:nvSpPr>
          <p:cNvPr id="38" name="Text 30"/>
          <p:cNvSpPr/>
          <p:nvPr/>
        </p:nvSpPr>
        <p:spPr>
          <a:xfrm>
            <a:off x="4645152" y="4498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SMS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4645152" y="482803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status &amp; updates for techs who never install the app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8156448" y="3657600"/>
            <a:ext cx="352044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8394192" y="3877056"/>
            <a:ext cx="512064" cy="512064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1352" y="4014216"/>
            <a:ext cx="237744" cy="237744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10711282" y="3931920"/>
            <a:ext cx="764438" cy="274320"/>
          </a:xfrm>
          <a:prstGeom prst="roundRect">
            <a:avLst>
              <a:gd name="adj" fmla="val 50000"/>
            </a:avLst>
          </a:prstGeom>
          <a:solidFill>
            <a:srgbClr val="E7EBF1"/>
          </a:solidFill>
          <a:ln/>
        </p:spPr>
      </p:sp>
      <p:sp>
        <p:nvSpPr>
          <p:cNvPr id="44" name="Text 35"/>
          <p:cNvSpPr/>
          <p:nvPr/>
        </p:nvSpPr>
        <p:spPr>
          <a:xfrm>
            <a:off x="10711282" y="3931920"/>
            <a:ext cx="764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EMERGING</a:t>
            </a:r>
            <a:endParaRPr lang="en-US" sz="750" dirty="0"/>
          </a:p>
        </p:txBody>
      </p:sp>
      <p:sp>
        <p:nvSpPr>
          <p:cNvPr id="45" name="Text 36"/>
          <p:cNvSpPr/>
          <p:nvPr/>
        </p:nvSpPr>
        <p:spPr>
          <a:xfrm>
            <a:off x="8394192" y="4498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glasses / wearables</a:t>
            </a:r>
            <a:endParaRPr lang="en-US" sz="1450" dirty="0"/>
          </a:p>
        </p:txBody>
      </p:sp>
      <p:sp>
        <p:nvSpPr>
          <p:cNvPr id="46" name="Text 37"/>
          <p:cNvSpPr/>
          <p:nvPr/>
        </p:nvSpPr>
        <p:spPr>
          <a:xfrm>
            <a:off x="8394192" y="482803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fix steps overlaid on the equipment in front of you</a:t>
            </a:r>
            <a:endParaRPr lang="en-US" sz="1050" dirty="0"/>
          </a:p>
        </p:txBody>
      </p:sp>
      <p:sp>
        <p:nvSpPr>
          <p:cNvPr id="47" name="Shape 38"/>
          <p:cNvSpPr/>
          <p:nvPr/>
        </p:nvSpPr>
        <p:spPr>
          <a:xfrm>
            <a:off x="640080" y="5504688"/>
            <a:ext cx="10908792" cy="841248"/>
          </a:xfrm>
          <a:prstGeom prst="roundRect">
            <a:avLst>
              <a:gd name="adj" fmla="val 9783"/>
            </a:avLst>
          </a:prstGeom>
          <a:solidFill>
            <a:srgbClr val="0F1A33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" y="5724144"/>
            <a:ext cx="420624" cy="420624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517904" y="5650992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shared core —  </a:t>
            </a:r>
            <a:pPr indent="0" marL="0">
              <a:buNone/>
            </a:pPr>
            <a:r>
              <a:rPr lang="en-US" sz="13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door is just another client of the hosted 60-tool MCP + HTTP layer. No new backend.</a:t>
            </a:r>
            <a:endParaRPr lang="en-US" sz="1350" dirty="0"/>
          </a:p>
        </p:txBody>
      </p:sp>
      <p:sp>
        <p:nvSpPr>
          <p:cNvPr id="50" name="Text 40"/>
          <p:cNvSpPr/>
          <p:nvPr/>
        </p:nvSpPr>
        <p:spPr>
          <a:xfrm>
            <a:off x="1517904" y="5998464"/>
            <a:ext cx="9902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MCP-native surfaces (Joule, Claude Desktop, other agents) need zero integration — they discover the tools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 vs. a ChatGPT app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377440" cy="82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10512"/>
            <a:ext cx="10908792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E2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8794AE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163824" y="1865376"/>
            <a:ext cx="4114800" cy="3639312"/>
          </a:xfrm>
          <a:prstGeom prst="rect">
            <a:avLst/>
          </a:prstGeom>
          <a:solidFill>
            <a:srgbClr val="F6F3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95681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39312" y="19202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C4S — this app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195681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08976" y="19202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app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914400" y="2322576"/>
            <a:ext cx="10332720" cy="0"/>
          </a:xfrm>
          <a:prstGeom prst="line">
            <a:avLst/>
          </a:prstGeom>
          <a:noFill/>
          <a:ln w="12700">
            <a:solidFill>
              <a:srgbClr val="E2E7F1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914400" y="2377440"/>
            <a:ext cx="21945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310128" y="2377440"/>
            <a:ext cx="38862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C4C side panel — in-context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7479792" y="2377440"/>
            <a:ext cx="38404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chat window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914400" y="2768346"/>
            <a:ext cx="10332720" cy="0"/>
          </a:xfrm>
          <a:prstGeom prst="line">
            <a:avLst/>
          </a:prstGeom>
          <a:noFill/>
          <a:ln w="12700">
            <a:solidFill>
              <a:srgbClr val="EEF1F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14400" y="2768346"/>
            <a:ext cx="21945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context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310128" y="2768346"/>
            <a:ext cx="38862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· screen-aware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479792" y="2768346"/>
            <a:ext cx="38404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/ paste the ID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4400" y="3159252"/>
            <a:ext cx="10332720" cy="0"/>
          </a:xfrm>
          <a:prstGeom prst="line">
            <a:avLst/>
          </a:prstGeom>
          <a:noFill/>
          <a:ln w="12700">
            <a:solidFill>
              <a:srgbClr val="EEF1F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14400" y="3159252"/>
            <a:ext cx="21945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310128" y="3159252"/>
            <a:ext cx="38862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· deterministic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479792" y="3159252"/>
            <a:ext cx="38404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model decides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14400" y="3550158"/>
            <a:ext cx="10332720" cy="0"/>
          </a:xfrm>
          <a:prstGeom prst="line">
            <a:avLst/>
          </a:prstGeom>
          <a:noFill/>
          <a:ln w="12700">
            <a:solidFill>
              <a:srgbClr val="EEF1F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14400" y="3550158"/>
            <a:ext cx="21945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model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310128" y="3550158"/>
            <a:ext cx="38862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Agnostic · Claude · BYO-LLM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7479792" y="3550158"/>
            <a:ext cx="38404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to OpenAI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14400" y="3941064"/>
            <a:ext cx="10332720" cy="0"/>
          </a:xfrm>
          <a:prstGeom prst="line">
            <a:avLst/>
          </a:prstGeom>
          <a:noFill/>
          <a:ln w="12700">
            <a:solidFill>
              <a:srgbClr val="EEF1F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14400" y="3941064"/>
            <a:ext cx="21945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path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3310128" y="3941064"/>
            <a:ext cx="38862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your control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479792" y="3941064"/>
            <a:ext cx="38404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through OpenAI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914400" y="4331970"/>
            <a:ext cx="10332720" cy="0"/>
          </a:xfrm>
          <a:prstGeom prst="line">
            <a:avLst/>
          </a:prstGeom>
          <a:noFill/>
          <a:ln w="12700">
            <a:solidFill>
              <a:srgbClr val="EEF1F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914400" y="4331970"/>
            <a:ext cx="21945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safety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3310128" y="4331970"/>
            <a:ext cx="38862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3-gate · deterministic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7479792" y="4331970"/>
            <a:ext cx="38404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Model-driven · needs guardrails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914400" y="4722876"/>
            <a:ext cx="10332720" cy="0"/>
          </a:xfrm>
          <a:prstGeom prst="line">
            <a:avLst/>
          </a:prstGeom>
          <a:noFill/>
          <a:ln w="12700">
            <a:solidFill>
              <a:srgbClr val="EEF1F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914400" y="4722876"/>
            <a:ext cx="21945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3310128" y="4722876"/>
            <a:ext cx="38862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extension (force-install)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7479792" y="4722876"/>
            <a:ext cx="38404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directory — huge reach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914400" y="5113782"/>
            <a:ext cx="10332720" cy="0"/>
          </a:xfrm>
          <a:prstGeom prst="line">
            <a:avLst/>
          </a:prstGeom>
          <a:noFill/>
          <a:ln w="12700">
            <a:solidFill>
              <a:srgbClr val="EEF1F7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914400" y="5113782"/>
            <a:ext cx="21945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3310128" y="5113782"/>
            <a:ext cx="38862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SAP enterprise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7479792" y="5113782"/>
            <a:ext cx="38404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· prosumer · demo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640080" y="5687568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0F1A33"/>
          </a:solidFill>
          <a:ln/>
        </p:spPr>
      </p:sp>
      <p:sp>
        <p:nvSpPr>
          <p:cNvPr id="44" name="Text 39"/>
          <p:cNvSpPr/>
          <p:nvPr/>
        </p:nvSpPr>
        <p:spPr>
          <a:xfrm>
            <a:off x="960120" y="5687568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—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MCP core powers both. </a:t>
            </a:r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in-context, deterministic, data-sovereign (enterprise).  </a:t>
            </a:r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app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broad reach — but OpenAI drives the loop and data flows through them.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48840"/>
            <a:ext cx="3108960" cy="91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395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FB0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one sentence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2960" y="27889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production-grade, SAP-C4C-native AI companion that combines </a:t>
            </a:r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RAG</a:t>
            </a:r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 </a:t>
            </a:r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gated-write layer</a:t>
            </a:r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let field-service agents act on tickets from inside their SAP screen.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41248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MV3 extension  →  HTTP / MCP shim  →  SAP C4C OData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1248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C4S · Service Ops MCP  ·  overview v0.27.82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 C4S — AI Companion Overview</dc:title>
  <dc:subject>PptxGenJS Presentation</dc:subject>
  <dc:creator>Ask C4S</dc:creator>
  <cp:lastModifiedBy>Ask C4S</cp:lastModifiedBy>
  <cp:revision>1</cp:revision>
  <dcterms:created xsi:type="dcterms:W3CDTF">2026-07-15T17:02:08Z</dcterms:created>
  <dcterms:modified xsi:type="dcterms:W3CDTF">2026-07-15T17:02:08Z</dcterms:modified>
</cp:coreProperties>
</file>